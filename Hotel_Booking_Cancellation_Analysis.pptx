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78" d="100"/>
          <a:sy n="78" d="100"/>
        </p:scale>
        <p:origin x="850" y="6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8/29/2026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8/29/2026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8/29/2026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8/29/2026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8/29/2026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8/29/2026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8/29/2026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6F8F9"/>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2776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294297" y="2196783"/>
            <a:ext cx="5898372" cy="1431161"/>
          </a:xfrm>
          <a:prstGeom prst="rect">
            <a:avLst/>
          </a:prstGeom>
          <a:noFill/>
        </p:spPr>
        <p:txBody>
          <a:bodyPr wrap="square">
            <a:spAutoFit/>
          </a:bodyPr>
          <a:lstStyle/>
          <a:p>
            <a:pPr>
              <a:defRPr sz="3500" b="1">
                <a:solidFill>
                  <a:srgbClr val="1C3042"/>
                </a:solidFill>
              </a:defRPr>
            </a:pPr>
            <a:r>
              <a:rPr dirty="0"/>
              <a:t>HOTEL BOOKING</a:t>
            </a:r>
            <a:br>
              <a:rPr dirty="0"/>
            </a:br>
            <a:r>
              <a:rPr dirty="0"/>
              <a:t>CANCELLATION ANALYSIS</a:t>
            </a:r>
          </a:p>
          <a:p>
            <a:pPr>
              <a:defRPr sz="1700">
                <a:solidFill>
                  <a:srgbClr val="27767D"/>
                </a:solidFill>
              </a:defRPr>
            </a:pPr>
            <a:r>
              <a:rPr dirty="0"/>
              <a:t>Python &amp; Pandas Data Analysis Project</a:t>
            </a:r>
          </a:p>
        </p:txBody>
      </p:sp>
      <p:sp>
        <p:nvSpPr>
          <p:cNvPr id="5" name="Rounded Rectangle 4"/>
          <p:cNvSpPr/>
          <p:nvPr/>
        </p:nvSpPr>
        <p:spPr>
          <a:xfrm>
            <a:off x="640080" y="5715000"/>
            <a:ext cx="10881360" cy="658368"/>
          </a:xfrm>
          <a:prstGeom prst="roundRect">
            <a:avLst/>
          </a:prstGeom>
          <a:solidFill>
            <a:srgbClr val="FFFAEC"/>
          </a:solidFill>
          <a:ln>
            <a:solidFill>
              <a:srgbClr val="DA9D3E"/>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a:solidFill>
                  <a:srgbClr val="2A2F34"/>
                </a:solidFill>
              </a:defRPr>
            </a:pPr>
            <a:r>
              <a:t>KEY POINTS  •  Analyzing reservation cancellations, pricing patterns, hotel type, booking sources, and revenue impact.</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6F8F9"/>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2776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92608"/>
            <a:ext cx="10972800" cy="502920"/>
          </a:xfrm>
          <a:prstGeom prst="rect">
            <a:avLst/>
          </a:prstGeom>
          <a:noFill/>
        </p:spPr>
        <p:txBody>
          <a:bodyPr wrap="none">
            <a:spAutoFit/>
          </a:bodyPr>
          <a:lstStyle/>
          <a:p>
            <a:pPr>
              <a:defRPr sz="2700" b="1">
                <a:solidFill>
                  <a:srgbClr val="1C3042"/>
                </a:solidFill>
                <a:latin typeface="Aptos Display"/>
              </a:defRPr>
            </a:pPr>
            <a:r>
              <a:t>Business Problem</a:t>
            </a:r>
          </a:p>
        </p:txBody>
      </p:sp>
      <p:sp>
        <p:nvSpPr>
          <p:cNvPr id="4" name="TextBox 3"/>
          <p:cNvSpPr txBox="1"/>
          <p:nvPr/>
        </p:nvSpPr>
        <p:spPr>
          <a:xfrm>
            <a:off x="594360" y="1143000"/>
            <a:ext cx="5486400" cy="4480560"/>
          </a:xfrm>
          <a:prstGeom prst="rect">
            <a:avLst/>
          </a:prstGeom>
          <a:noFill/>
        </p:spPr>
        <p:txBody>
          <a:bodyPr wrap="square">
            <a:spAutoFit/>
          </a:bodyPr>
          <a:lstStyle/>
          <a:p>
            <a:pPr>
              <a:spcAft>
                <a:spcPts val="900"/>
              </a:spcAft>
              <a:defRPr sz="1400">
                <a:solidFill>
                  <a:srgbClr val="2A2F34"/>
                </a:solidFill>
                <a:latin typeface="Aptos"/>
              </a:defRPr>
            </a:pPr>
            <a:r>
              <a:rPr dirty="0"/>
              <a:t>• City Hotel and Resort Hotel have seen high cancellation rates.</a:t>
            </a:r>
          </a:p>
          <a:p>
            <a:pPr>
              <a:spcAft>
                <a:spcPts val="900"/>
              </a:spcAft>
              <a:defRPr sz="1400">
                <a:solidFill>
                  <a:srgbClr val="2A2F34"/>
                </a:solidFill>
                <a:latin typeface="Aptos"/>
              </a:defRPr>
            </a:pPr>
            <a:r>
              <a:rPr dirty="0"/>
              <a:t>• Each hotel is now dealing with fewer revenues and less than ideal hotel room use.</a:t>
            </a:r>
          </a:p>
          <a:p>
            <a:pPr>
              <a:spcAft>
                <a:spcPts val="900"/>
              </a:spcAft>
              <a:defRPr sz="1400">
                <a:solidFill>
                  <a:srgbClr val="2A2F34"/>
                </a:solidFill>
                <a:latin typeface="Aptos"/>
              </a:defRPr>
            </a:pPr>
            <a:r>
              <a:rPr dirty="0"/>
              <a:t>• Lowering cancellation rates is both hotels' primary goal in order to increase their efficiency in generating revenue, and for us to offer thorough business advice to address this problem.</a:t>
            </a:r>
          </a:p>
          <a:p>
            <a:pPr>
              <a:spcAft>
                <a:spcPts val="900"/>
              </a:spcAft>
              <a:defRPr sz="1400">
                <a:solidFill>
                  <a:srgbClr val="2A2F34"/>
                </a:solidFill>
                <a:latin typeface="Aptos"/>
              </a:defRPr>
            </a:pPr>
            <a:r>
              <a:rPr dirty="0"/>
              <a:t>• The analysis of hotel booking cancellations as well as other factors that have no bearing on their business and yearly revenue generation are the main topics of this report.</a:t>
            </a:r>
          </a:p>
        </p:txBody>
      </p:sp>
      <p:sp>
        <p:nvSpPr>
          <p:cNvPr id="6" name="Rounded Rectangle 5"/>
          <p:cNvSpPr/>
          <p:nvPr/>
        </p:nvSpPr>
        <p:spPr>
          <a:xfrm>
            <a:off x="640080" y="5715000"/>
            <a:ext cx="10881360" cy="658368"/>
          </a:xfrm>
          <a:prstGeom prst="roundRect">
            <a:avLst/>
          </a:prstGeom>
          <a:solidFill>
            <a:srgbClr val="FFFAEC"/>
          </a:solidFill>
          <a:ln>
            <a:solidFill>
              <a:srgbClr val="DA9D3E"/>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a:solidFill>
                  <a:srgbClr val="2A2F34"/>
                </a:solidFill>
              </a:defRPr>
            </a:pPr>
            <a:r>
              <a:t>KEY POINTS  •  Primary goal: lower cancellation rates, improve room utilization, and increase revenue efficiency.</a:t>
            </a:r>
          </a:p>
        </p:txBody>
      </p:sp>
      <p:pic>
        <p:nvPicPr>
          <p:cNvPr id="10" name="Picture 9">
            <a:extLst>
              <a:ext uri="{FF2B5EF4-FFF2-40B4-BE49-F238E27FC236}">
                <a16:creationId xmlns:a16="http://schemas.microsoft.com/office/drawing/2014/main" id="{7893205D-BF37-BB5A-8AB8-11AD12694C4A}"/>
              </a:ext>
            </a:extLst>
          </p:cNvPr>
          <p:cNvPicPr>
            <a:picLocks noChangeAspect="1"/>
          </p:cNvPicPr>
          <p:nvPr/>
        </p:nvPicPr>
        <p:blipFill>
          <a:blip r:embed="rId2"/>
          <a:stretch>
            <a:fillRect/>
          </a:stretch>
        </p:blipFill>
        <p:spPr>
          <a:xfrm>
            <a:off x="6375728" y="1135123"/>
            <a:ext cx="5298023" cy="2571637"/>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6F8F9"/>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2776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92608"/>
            <a:ext cx="10972800" cy="502920"/>
          </a:xfrm>
          <a:prstGeom prst="rect">
            <a:avLst/>
          </a:prstGeom>
          <a:noFill/>
        </p:spPr>
        <p:txBody>
          <a:bodyPr wrap="none">
            <a:spAutoFit/>
          </a:bodyPr>
          <a:lstStyle/>
          <a:p>
            <a:pPr>
              <a:defRPr sz="2700" b="1">
                <a:solidFill>
                  <a:srgbClr val="1C3042"/>
                </a:solidFill>
                <a:latin typeface="Aptos Display"/>
              </a:defRPr>
            </a:pPr>
            <a:r>
              <a:t>Assumptions</a:t>
            </a:r>
          </a:p>
        </p:txBody>
      </p:sp>
      <p:sp>
        <p:nvSpPr>
          <p:cNvPr id="4" name="TextBox 3"/>
          <p:cNvSpPr txBox="1"/>
          <p:nvPr/>
        </p:nvSpPr>
        <p:spPr>
          <a:xfrm>
            <a:off x="731520" y="1188720"/>
            <a:ext cx="10515600" cy="4937760"/>
          </a:xfrm>
          <a:prstGeom prst="rect">
            <a:avLst/>
          </a:prstGeom>
          <a:noFill/>
        </p:spPr>
        <p:txBody>
          <a:bodyPr wrap="square">
            <a:spAutoFit/>
          </a:bodyPr>
          <a:lstStyle/>
          <a:p>
            <a:pPr>
              <a:spcAft>
                <a:spcPts val="900"/>
              </a:spcAft>
              <a:defRPr sz="1300">
                <a:solidFill>
                  <a:srgbClr val="2A2F34"/>
                </a:solidFill>
                <a:latin typeface="Aptos"/>
              </a:defRPr>
            </a:pPr>
            <a:r>
              <a:t>• No unusual occurrences between 2015 and 2017 will have a substantial impact on the data used.</a:t>
            </a:r>
          </a:p>
          <a:p>
            <a:pPr>
              <a:spcAft>
                <a:spcPts val="900"/>
              </a:spcAft>
              <a:defRPr sz="1300">
                <a:solidFill>
                  <a:srgbClr val="2A2F34"/>
                </a:solidFill>
                <a:latin typeface="Aptos"/>
              </a:defRPr>
            </a:pPr>
            <a:r>
              <a:t>• The information is still current and can be used to analyze a hotel's possible plans in an efficient manner.</a:t>
            </a:r>
          </a:p>
          <a:p>
            <a:pPr>
              <a:spcAft>
                <a:spcPts val="900"/>
              </a:spcAft>
              <a:defRPr sz="1300">
                <a:solidFill>
                  <a:srgbClr val="2A2F34"/>
                </a:solidFill>
                <a:latin typeface="Aptos"/>
              </a:defRPr>
            </a:pPr>
            <a:r>
              <a:t>• There are no unanticipated negatives to the hotel employing any advised technique.</a:t>
            </a:r>
          </a:p>
          <a:p>
            <a:pPr>
              <a:spcAft>
                <a:spcPts val="900"/>
              </a:spcAft>
              <a:defRPr sz="1300">
                <a:solidFill>
                  <a:srgbClr val="2A2F34"/>
                </a:solidFill>
                <a:latin typeface="Aptos"/>
              </a:defRPr>
            </a:pPr>
            <a:r>
              <a:t>• The hotels are not currently using any of the suggested solutions.</a:t>
            </a:r>
          </a:p>
          <a:p>
            <a:pPr>
              <a:spcAft>
                <a:spcPts val="900"/>
              </a:spcAft>
              <a:defRPr sz="1300">
                <a:solidFill>
                  <a:srgbClr val="2A2F34"/>
                </a:solidFill>
                <a:latin typeface="Aptos"/>
              </a:defRPr>
            </a:pPr>
            <a:r>
              <a:t>• The biggest factor affecting the effectiveness of earning income is booking cancellations.</a:t>
            </a:r>
          </a:p>
          <a:p>
            <a:pPr>
              <a:spcAft>
                <a:spcPts val="900"/>
              </a:spcAft>
              <a:defRPr sz="1300">
                <a:solidFill>
                  <a:srgbClr val="2A2F34"/>
                </a:solidFill>
                <a:latin typeface="Aptos"/>
              </a:defRPr>
            </a:pPr>
            <a:r>
              <a:t>• Cancellations result in vacant rooms for the booked length of time.</a:t>
            </a:r>
          </a:p>
          <a:p>
            <a:pPr>
              <a:spcAft>
                <a:spcPts val="900"/>
              </a:spcAft>
              <a:defRPr sz="1300">
                <a:solidFill>
                  <a:srgbClr val="2A2F34"/>
                </a:solidFill>
                <a:latin typeface="Aptos"/>
              </a:defRPr>
            </a:pPr>
            <a:r>
              <a:t>• Clients make hotel reservations the same year they make cancellations.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6F8F9"/>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2776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92608"/>
            <a:ext cx="10972800" cy="502920"/>
          </a:xfrm>
          <a:prstGeom prst="rect">
            <a:avLst/>
          </a:prstGeom>
          <a:noFill/>
        </p:spPr>
        <p:txBody>
          <a:bodyPr wrap="none">
            <a:spAutoFit/>
          </a:bodyPr>
          <a:lstStyle/>
          <a:p>
            <a:pPr>
              <a:defRPr sz="2700" b="1">
                <a:solidFill>
                  <a:srgbClr val="1C3042"/>
                </a:solidFill>
                <a:latin typeface="Aptos Display"/>
              </a:defRPr>
            </a:pPr>
            <a:r>
              <a:t>Research Questions &amp; Hypothesis</a:t>
            </a:r>
          </a:p>
        </p:txBody>
      </p:sp>
      <p:sp>
        <p:nvSpPr>
          <p:cNvPr id="4" name="TextBox 3"/>
          <p:cNvSpPr txBox="1"/>
          <p:nvPr/>
        </p:nvSpPr>
        <p:spPr>
          <a:xfrm>
            <a:off x="640080" y="1143000"/>
            <a:ext cx="10515600" cy="1920240"/>
          </a:xfrm>
          <a:prstGeom prst="rect">
            <a:avLst/>
          </a:prstGeom>
          <a:noFill/>
        </p:spPr>
        <p:txBody>
          <a:bodyPr wrap="square">
            <a:spAutoFit/>
          </a:bodyPr>
          <a:lstStyle/>
          <a:p>
            <a:pPr>
              <a:spcAft>
                <a:spcPts val="900"/>
              </a:spcAft>
              <a:defRPr sz="1400">
                <a:solidFill>
                  <a:srgbClr val="2A2F34"/>
                </a:solidFill>
                <a:latin typeface="Aptos"/>
              </a:defRPr>
            </a:pPr>
            <a:r>
              <a:t>• What are the variables that affect hotel reservation cancellations?</a:t>
            </a:r>
          </a:p>
          <a:p>
            <a:pPr>
              <a:spcAft>
                <a:spcPts val="900"/>
              </a:spcAft>
              <a:defRPr sz="1400">
                <a:solidFill>
                  <a:srgbClr val="2A2F34"/>
                </a:solidFill>
                <a:latin typeface="Aptos"/>
              </a:defRPr>
            </a:pPr>
            <a:r>
              <a:t>• How can we make hotel reservation cancellations better?</a:t>
            </a:r>
          </a:p>
          <a:p>
            <a:pPr>
              <a:spcAft>
                <a:spcPts val="900"/>
              </a:spcAft>
              <a:defRPr sz="1400">
                <a:solidFill>
                  <a:srgbClr val="2A2F34"/>
                </a:solidFill>
                <a:latin typeface="Aptos"/>
              </a:defRPr>
            </a:pPr>
            <a:r>
              <a:t>• How will hotels be assisted in making pricing and promotional decisions?</a:t>
            </a:r>
          </a:p>
        </p:txBody>
      </p:sp>
      <p:sp>
        <p:nvSpPr>
          <p:cNvPr id="5" name="TextBox 4"/>
          <p:cNvSpPr txBox="1"/>
          <p:nvPr/>
        </p:nvSpPr>
        <p:spPr>
          <a:xfrm>
            <a:off x="640080" y="3520440"/>
            <a:ext cx="10515600" cy="2103120"/>
          </a:xfrm>
          <a:prstGeom prst="rect">
            <a:avLst/>
          </a:prstGeom>
          <a:noFill/>
        </p:spPr>
        <p:txBody>
          <a:bodyPr wrap="square">
            <a:spAutoFit/>
          </a:bodyPr>
          <a:lstStyle/>
          <a:p>
            <a:pPr>
              <a:spcAft>
                <a:spcPts val="900"/>
              </a:spcAft>
              <a:defRPr sz="1400">
                <a:solidFill>
                  <a:srgbClr val="2A2F34"/>
                </a:solidFill>
                <a:latin typeface="Aptos"/>
              </a:defRPr>
            </a:pPr>
            <a:r>
              <a:t>• More cancellations occur when prices are higher.</a:t>
            </a:r>
          </a:p>
          <a:p>
            <a:pPr>
              <a:spcAft>
                <a:spcPts val="900"/>
              </a:spcAft>
              <a:defRPr sz="1400">
                <a:solidFill>
                  <a:srgbClr val="2A2F34"/>
                </a:solidFill>
                <a:latin typeface="Aptos"/>
              </a:defRPr>
            </a:pPr>
            <a:r>
              <a:t>• When there is a longer waiting list, customers tend to cancel more frequently.</a:t>
            </a:r>
          </a:p>
          <a:p>
            <a:pPr>
              <a:spcAft>
                <a:spcPts val="900"/>
              </a:spcAft>
              <a:defRPr sz="1400">
                <a:solidFill>
                  <a:srgbClr val="2A2F34"/>
                </a:solidFill>
                <a:latin typeface="Aptos"/>
              </a:defRPr>
            </a:pPr>
            <a:r>
              <a:t>• The majority of clients are coming from offline travel agents to make their reservations.</a:t>
            </a:r>
          </a:p>
        </p:txBody>
      </p:sp>
      <p:sp>
        <p:nvSpPr>
          <p:cNvPr id="6" name="TextBox 5"/>
          <p:cNvSpPr txBox="1"/>
          <p:nvPr/>
        </p:nvSpPr>
        <p:spPr>
          <a:xfrm>
            <a:off x="658368" y="914400"/>
            <a:ext cx="3657600" cy="274320"/>
          </a:xfrm>
          <a:prstGeom prst="rect">
            <a:avLst/>
          </a:prstGeom>
          <a:noFill/>
        </p:spPr>
        <p:txBody>
          <a:bodyPr wrap="none">
            <a:spAutoFit/>
          </a:bodyPr>
          <a:lstStyle/>
          <a:p>
            <a:pPr>
              <a:defRPr sz="1400" b="1">
                <a:solidFill>
                  <a:srgbClr val="27767D"/>
                </a:solidFill>
              </a:defRPr>
            </a:pPr>
            <a:r>
              <a:t>Research Questions</a:t>
            </a:r>
          </a:p>
        </p:txBody>
      </p:sp>
      <p:sp>
        <p:nvSpPr>
          <p:cNvPr id="7" name="TextBox 6"/>
          <p:cNvSpPr txBox="1"/>
          <p:nvPr/>
        </p:nvSpPr>
        <p:spPr>
          <a:xfrm>
            <a:off x="658368" y="3273552"/>
            <a:ext cx="3657600" cy="274320"/>
          </a:xfrm>
          <a:prstGeom prst="rect">
            <a:avLst/>
          </a:prstGeom>
          <a:noFill/>
        </p:spPr>
        <p:txBody>
          <a:bodyPr wrap="none">
            <a:spAutoFit/>
          </a:bodyPr>
          <a:lstStyle/>
          <a:p>
            <a:pPr>
              <a:defRPr sz="1400" b="1">
                <a:solidFill>
                  <a:srgbClr val="27767D"/>
                </a:solidFill>
              </a:defRPr>
            </a:pPr>
            <a:r>
              <a:t>Hypothesis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6F8F9"/>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2776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92608"/>
            <a:ext cx="10972800" cy="502920"/>
          </a:xfrm>
          <a:prstGeom prst="rect">
            <a:avLst/>
          </a:prstGeom>
          <a:noFill/>
        </p:spPr>
        <p:txBody>
          <a:bodyPr wrap="none">
            <a:spAutoFit/>
          </a:bodyPr>
          <a:lstStyle/>
          <a:p>
            <a:pPr>
              <a:defRPr sz="2700" b="1">
                <a:solidFill>
                  <a:srgbClr val="1C3042"/>
                </a:solidFill>
                <a:latin typeface="Aptos Display"/>
              </a:defRPr>
            </a:pPr>
            <a:r>
              <a:t>Analysis &amp; Finding: Reservation Status</a:t>
            </a:r>
          </a:p>
        </p:txBody>
      </p:sp>
      <p:sp>
        <p:nvSpPr>
          <p:cNvPr id="5" name="TextBox 4"/>
          <p:cNvSpPr txBox="1"/>
          <p:nvPr/>
        </p:nvSpPr>
        <p:spPr>
          <a:xfrm>
            <a:off x="7635240" y="1280160"/>
            <a:ext cx="3840480" cy="3931920"/>
          </a:xfrm>
          <a:prstGeom prst="rect">
            <a:avLst/>
          </a:prstGeom>
          <a:noFill/>
        </p:spPr>
        <p:txBody>
          <a:bodyPr wrap="square">
            <a:spAutoFit/>
          </a:bodyPr>
          <a:lstStyle/>
          <a:p>
            <a:pPr>
              <a:spcAft>
                <a:spcPts val="900"/>
              </a:spcAft>
              <a:defRPr sz="1400">
                <a:solidFill>
                  <a:srgbClr val="2A2F34"/>
                </a:solidFill>
                <a:latin typeface="Aptos"/>
              </a:defRPr>
            </a:pPr>
            <a:r>
              <a:t>• The accompanying bar graph shows the percentage of reservations that are canceled and those that are not.</a:t>
            </a:r>
          </a:p>
          <a:p>
            <a:pPr>
              <a:spcAft>
                <a:spcPts val="900"/>
              </a:spcAft>
              <a:defRPr sz="1400">
                <a:solidFill>
                  <a:srgbClr val="2A2F34"/>
                </a:solidFill>
                <a:latin typeface="Aptos"/>
              </a:defRPr>
            </a:pPr>
            <a:r>
              <a:t>• It is obvious that there are still a significant number of reservations that have not been canceled.</a:t>
            </a:r>
          </a:p>
          <a:p>
            <a:pPr>
              <a:spcAft>
                <a:spcPts val="900"/>
              </a:spcAft>
              <a:defRPr sz="1400">
                <a:solidFill>
                  <a:srgbClr val="2A2F34"/>
                </a:solidFill>
                <a:latin typeface="Aptos"/>
              </a:defRPr>
            </a:pPr>
            <a:r>
              <a:t>• There are still 37% of clients who canceled their reservation, which has a significant impact on the hotels' earnings.</a:t>
            </a:r>
          </a:p>
        </p:txBody>
      </p:sp>
      <p:sp>
        <p:nvSpPr>
          <p:cNvPr id="6" name="Rounded Rectangle 5"/>
          <p:cNvSpPr/>
          <p:nvPr/>
        </p:nvSpPr>
        <p:spPr>
          <a:xfrm>
            <a:off x="640080" y="5715000"/>
            <a:ext cx="10881360" cy="658368"/>
          </a:xfrm>
          <a:prstGeom prst="roundRect">
            <a:avLst/>
          </a:prstGeom>
          <a:solidFill>
            <a:srgbClr val="FFFAEC"/>
          </a:solidFill>
          <a:ln>
            <a:solidFill>
              <a:srgbClr val="DA9D3E"/>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a:solidFill>
                  <a:srgbClr val="2A2F34"/>
                </a:solidFill>
              </a:defRPr>
            </a:pPr>
            <a:r>
              <a:t>KEY POINTS  •  37% of clients canceled their reservations, creating a significant earnings impact.</a:t>
            </a:r>
          </a:p>
        </p:txBody>
      </p:sp>
      <p:pic>
        <p:nvPicPr>
          <p:cNvPr id="8" name="Picture 7">
            <a:extLst>
              <a:ext uri="{FF2B5EF4-FFF2-40B4-BE49-F238E27FC236}">
                <a16:creationId xmlns:a16="http://schemas.microsoft.com/office/drawing/2014/main" id="{092AE70B-1499-79CE-B305-2012FF94117B}"/>
              </a:ext>
            </a:extLst>
          </p:cNvPr>
          <p:cNvPicPr>
            <a:picLocks noChangeAspect="1"/>
          </p:cNvPicPr>
          <p:nvPr/>
        </p:nvPicPr>
        <p:blipFill>
          <a:blip r:embed="rId2"/>
          <a:stretch>
            <a:fillRect/>
          </a:stretch>
        </p:blipFill>
        <p:spPr>
          <a:xfrm>
            <a:off x="502920" y="1195970"/>
            <a:ext cx="6637595" cy="426757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6F8F9"/>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2776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92608"/>
            <a:ext cx="10972800" cy="502920"/>
          </a:xfrm>
          <a:prstGeom prst="rect">
            <a:avLst/>
          </a:prstGeom>
          <a:noFill/>
        </p:spPr>
        <p:txBody>
          <a:bodyPr wrap="none">
            <a:spAutoFit/>
          </a:bodyPr>
          <a:lstStyle/>
          <a:p>
            <a:pPr>
              <a:defRPr sz="2700" b="1">
                <a:solidFill>
                  <a:srgbClr val="1C3042"/>
                </a:solidFill>
                <a:latin typeface="Aptos Display"/>
              </a:defRPr>
            </a:pPr>
            <a:r>
              <a:t>Reservation Status in Different Hotels</a:t>
            </a:r>
          </a:p>
        </p:txBody>
      </p:sp>
      <p:pic>
        <p:nvPicPr>
          <p:cNvPr id="4" name="Picture 3" descr="Screenshot 2026-08-29 230952.png"/>
          <p:cNvPicPr>
            <a:picLocks noChangeAspect="1"/>
          </p:cNvPicPr>
          <p:nvPr/>
        </p:nvPicPr>
        <p:blipFill>
          <a:blip r:embed="rId2"/>
          <a:stretch>
            <a:fillRect/>
          </a:stretch>
        </p:blipFill>
        <p:spPr>
          <a:xfrm>
            <a:off x="502920" y="1371187"/>
            <a:ext cx="6949440" cy="3381647"/>
          </a:xfrm>
          <a:prstGeom prst="rect">
            <a:avLst/>
          </a:prstGeom>
        </p:spPr>
      </p:pic>
      <p:sp>
        <p:nvSpPr>
          <p:cNvPr id="5" name="TextBox 4"/>
          <p:cNvSpPr txBox="1"/>
          <p:nvPr/>
        </p:nvSpPr>
        <p:spPr>
          <a:xfrm>
            <a:off x="7635240" y="1280160"/>
            <a:ext cx="3840480" cy="3931920"/>
          </a:xfrm>
          <a:prstGeom prst="rect">
            <a:avLst/>
          </a:prstGeom>
          <a:noFill/>
        </p:spPr>
        <p:txBody>
          <a:bodyPr wrap="square">
            <a:spAutoFit/>
          </a:bodyPr>
          <a:lstStyle/>
          <a:p>
            <a:pPr>
              <a:spcAft>
                <a:spcPts val="900"/>
              </a:spcAft>
              <a:defRPr sz="1400">
                <a:solidFill>
                  <a:srgbClr val="2A2F34"/>
                </a:solidFill>
                <a:latin typeface="Aptos"/>
              </a:defRPr>
            </a:pPr>
            <a:r>
              <a:t>• In comparison to resort hotels, city hotels have more bookings.</a:t>
            </a:r>
          </a:p>
          <a:p>
            <a:pPr>
              <a:spcAft>
                <a:spcPts val="900"/>
              </a:spcAft>
              <a:defRPr sz="1400">
                <a:solidFill>
                  <a:srgbClr val="2A2F34"/>
                </a:solidFill>
                <a:latin typeface="Aptos"/>
              </a:defRPr>
            </a:pPr>
            <a:r>
              <a:t>• It's possible that resort hotels are more expensive than those in cities.</a:t>
            </a:r>
          </a:p>
        </p:txBody>
      </p:sp>
      <p:sp>
        <p:nvSpPr>
          <p:cNvPr id="6" name="Rounded Rectangle 5"/>
          <p:cNvSpPr/>
          <p:nvPr/>
        </p:nvSpPr>
        <p:spPr>
          <a:xfrm>
            <a:off x="640080" y="5212080"/>
            <a:ext cx="10881360" cy="1161288"/>
          </a:xfrm>
          <a:prstGeom prst="roundRect">
            <a:avLst/>
          </a:prstGeom>
          <a:solidFill>
            <a:srgbClr val="FFFAEC"/>
          </a:solidFill>
          <a:ln>
            <a:solidFill>
              <a:srgbClr val="DA9D3E"/>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a:solidFill>
                  <a:srgbClr val="2A2F34"/>
                </a:solidFill>
              </a:defRPr>
            </a:pPr>
            <a:r>
              <a:rPr sz="1600" dirty="0"/>
              <a:t>KEY POINTS  •  City hotels have more bookings than resort hotels; resort hotels may be relatively more expensive</a:t>
            </a:r>
            <a:r>
              <a:rPr dirty="0"/>
              <a:t>.</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6F8F9"/>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2776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92608"/>
            <a:ext cx="10972800" cy="502920"/>
          </a:xfrm>
          <a:prstGeom prst="rect">
            <a:avLst/>
          </a:prstGeom>
          <a:noFill/>
        </p:spPr>
        <p:txBody>
          <a:bodyPr wrap="none">
            <a:spAutoFit/>
          </a:bodyPr>
          <a:lstStyle/>
          <a:p>
            <a:pPr>
              <a:defRPr sz="2700" b="1">
                <a:solidFill>
                  <a:srgbClr val="1C3042"/>
                </a:solidFill>
                <a:latin typeface="Aptos Display"/>
              </a:defRPr>
            </a:pPr>
            <a:r>
              <a:t>Average Daily Rate: City vs Resort Hotel</a:t>
            </a:r>
          </a:p>
        </p:txBody>
      </p:sp>
      <p:sp>
        <p:nvSpPr>
          <p:cNvPr id="5" name="TextBox 4"/>
          <p:cNvSpPr txBox="1"/>
          <p:nvPr/>
        </p:nvSpPr>
        <p:spPr>
          <a:xfrm>
            <a:off x="7635240" y="1097280"/>
            <a:ext cx="3840480" cy="3931920"/>
          </a:xfrm>
          <a:prstGeom prst="rect">
            <a:avLst/>
          </a:prstGeom>
          <a:noFill/>
        </p:spPr>
        <p:txBody>
          <a:bodyPr wrap="square">
            <a:spAutoFit/>
          </a:bodyPr>
          <a:lstStyle/>
          <a:p>
            <a:pPr>
              <a:spcAft>
                <a:spcPts val="900"/>
              </a:spcAft>
              <a:defRPr sz="1400">
                <a:solidFill>
                  <a:srgbClr val="2A2F34"/>
                </a:solidFill>
                <a:latin typeface="Aptos"/>
              </a:defRPr>
            </a:pPr>
            <a:r>
              <a:t>• The line graph above shows that, on certain days, the average daily rate for a city hotel is less than that of a resort hotel, and on other days, it is even less.</a:t>
            </a:r>
          </a:p>
          <a:p>
            <a:pPr>
              <a:spcAft>
                <a:spcPts val="900"/>
              </a:spcAft>
              <a:defRPr sz="1400">
                <a:solidFill>
                  <a:srgbClr val="2A2F34"/>
                </a:solidFill>
                <a:latin typeface="Aptos"/>
              </a:defRPr>
            </a:pPr>
            <a:r>
              <a:t>• It goes without saying that weekends and holidays may see a rise in resort hotel rates.</a:t>
            </a:r>
          </a:p>
        </p:txBody>
      </p:sp>
      <p:sp>
        <p:nvSpPr>
          <p:cNvPr id="6" name="Rounded Rectangle 5"/>
          <p:cNvSpPr/>
          <p:nvPr/>
        </p:nvSpPr>
        <p:spPr>
          <a:xfrm>
            <a:off x="640080" y="5715000"/>
            <a:ext cx="10881360" cy="658368"/>
          </a:xfrm>
          <a:prstGeom prst="roundRect">
            <a:avLst/>
          </a:prstGeom>
          <a:solidFill>
            <a:srgbClr val="FFFAEC"/>
          </a:solidFill>
          <a:ln>
            <a:solidFill>
              <a:srgbClr val="DA9D3E"/>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a:solidFill>
                  <a:srgbClr val="2A2F34"/>
                </a:solidFill>
              </a:defRPr>
            </a:pPr>
            <a:r>
              <a:t>KEY POINTS  •  Weekend and holiday demand may increase resort hotel rates.</a:t>
            </a:r>
          </a:p>
        </p:txBody>
      </p:sp>
      <p:pic>
        <p:nvPicPr>
          <p:cNvPr id="10" name="Picture 9">
            <a:extLst>
              <a:ext uri="{FF2B5EF4-FFF2-40B4-BE49-F238E27FC236}">
                <a16:creationId xmlns:a16="http://schemas.microsoft.com/office/drawing/2014/main" id="{1EA5E526-0F62-3390-29ED-9E07A157E002}"/>
              </a:ext>
            </a:extLst>
          </p:cNvPr>
          <p:cNvPicPr>
            <a:picLocks noChangeAspect="1"/>
          </p:cNvPicPr>
          <p:nvPr/>
        </p:nvPicPr>
        <p:blipFill>
          <a:blip r:embed="rId2"/>
          <a:stretch>
            <a:fillRect/>
          </a:stretch>
        </p:blipFill>
        <p:spPr>
          <a:xfrm>
            <a:off x="430651" y="1111635"/>
            <a:ext cx="6864395" cy="4018656"/>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6F8F9"/>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2776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92608"/>
            <a:ext cx="10972800" cy="502920"/>
          </a:xfrm>
          <a:prstGeom prst="rect">
            <a:avLst/>
          </a:prstGeom>
          <a:noFill/>
        </p:spPr>
        <p:txBody>
          <a:bodyPr wrap="none">
            <a:spAutoFit/>
          </a:bodyPr>
          <a:lstStyle/>
          <a:p>
            <a:pPr>
              <a:defRPr sz="2700" b="1">
                <a:solidFill>
                  <a:srgbClr val="1C3042"/>
                </a:solidFill>
                <a:latin typeface="Aptos Display"/>
              </a:defRPr>
            </a:pPr>
            <a:r>
              <a:t>Reservation Status per Month</a:t>
            </a:r>
          </a:p>
        </p:txBody>
      </p:sp>
      <p:sp>
        <p:nvSpPr>
          <p:cNvPr id="5" name="TextBox 4"/>
          <p:cNvSpPr txBox="1"/>
          <p:nvPr/>
        </p:nvSpPr>
        <p:spPr>
          <a:xfrm>
            <a:off x="7772892" y="1097280"/>
            <a:ext cx="3840480" cy="3931920"/>
          </a:xfrm>
          <a:prstGeom prst="rect">
            <a:avLst/>
          </a:prstGeom>
          <a:noFill/>
        </p:spPr>
        <p:txBody>
          <a:bodyPr wrap="square">
            <a:spAutoFit/>
          </a:bodyPr>
          <a:lstStyle/>
          <a:p>
            <a:pPr>
              <a:spcAft>
                <a:spcPts val="900"/>
              </a:spcAft>
              <a:defRPr sz="1400">
                <a:solidFill>
                  <a:srgbClr val="2A2F34"/>
                </a:solidFill>
                <a:latin typeface="Aptos"/>
              </a:defRPr>
            </a:pPr>
            <a:r>
              <a:rPr dirty="0"/>
              <a:t>• We have developed the grouped bar graph to analyze the months with the highest and lowest reservation levels according to reservation status.</a:t>
            </a:r>
          </a:p>
          <a:p>
            <a:pPr>
              <a:spcAft>
                <a:spcPts val="900"/>
              </a:spcAft>
              <a:defRPr sz="1400">
                <a:solidFill>
                  <a:srgbClr val="2A2F34"/>
                </a:solidFill>
                <a:latin typeface="Aptos"/>
              </a:defRPr>
            </a:pPr>
            <a:r>
              <a:rPr dirty="0"/>
              <a:t>• As can be seen, both the number of confirmed reservations and the number of canceled reservations are largest in the month of August, whereas January is the month with the most canceled reservations.</a:t>
            </a:r>
          </a:p>
        </p:txBody>
      </p:sp>
      <p:sp>
        <p:nvSpPr>
          <p:cNvPr id="6" name="Rounded Rectangle 5"/>
          <p:cNvSpPr/>
          <p:nvPr/>
        </p:nvSpPr>
        <p:spPr>
          <a:xfrm>
            <a:off x="640080" y="5715000"/>
            <a:ext cx="10881360" cy="658368"/>
          </a:xfrm>
          <a:prstGeom prst="roundRect">
            <a:avLst/>
          </a:prstGeom>
          <a:solidFill>
            <a:srgbClr val="FFFAEC"/>
          </a:solidFill>
          <a:ln>
            <a:solidFill>
              <a:srgbClr val="DA9D3E"/>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a:solidFill>
                  <a:srgbClr val="2A2F34"/>
                </a:solidFill>
              </a:defRPr>
            </a:pPr>
            <a:r>
              <a:t>KEY POINTS  •  August has the largest confirmed and canceled reservation counts; January has the most canceled reservations.</a:t>
            </a:r>
          </a:p>
        </p:txBody>
      </p:sp>
      <p:pic>
        <p:nvPicPr>
          <p:cNvPr id="8" name="Picture 7">
            <a:extLst>
              <a:ext uri="{FF2B5EF4-FFF2-40B4-BE49-F238E27FC236}">
                <a16:creationId xmlns:a16="http://schemas.microsoft.com/office/drawing/2014/main" id="{7DFAAD68-FF64-F143-E7DB-ABAF26985B84}"/>
              </a:ext>
            </a:extLst>
          </p:cNvPr>
          <p:cNvPicPr>
            <a:picLocks noChangeAspect="1"/>
          </p:cNvPicPr>
          <p:nvPr/>
        </p:nvPicPr>
        <p:blipFill>
          <a:blip r:embed="rId2"/>
          <a:stretch>
            <a:fillRect/>
          </a:stretch>
        </p:blipFill>
        <p:spPr>
          <a:xfrm>
            <a:off x="298782" y="1097280"/>
            <a:ext cx="7159477" cy="393192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6F8F9"/>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2776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92608"/>
            <a:ext cx="10972800" cy="502920"/>
          </a:xfrm>
          <a:prstGeom prst="rect">
            <a:avLst/>
          </a:prstGeom>
          <a:noFill/>
        </p:spPr>
        <p:txBody>
          <a:bodyPr wrap="none">
            <a:spAutoFit/>
          </a:bodyPr>
          <a:lstStyle/>
          <a:p>
            <a:pPr>
              <a:defRPr sz="2700" b="1">
                <a:solidFill>
                  <a:srgbClr val="1C3042"/>
                </a:solidFill>
                <a:latin typeface="Aptos Display"/>
              </a:defRPr>
            </a:pPr>
            <a:r>
              <a:t>ADR for Each Month</a:t>
            </a:r>
          </a:p>
        </p:txBody>
      </p:sp>
      <p:sp>
        <p:nvSpPr>
          <p:cNvPr id="5" name="TextBox 4"/>
          <p:cNvSpPr txBox="1"/>
          <p:nvPr/>
        </p:nvSpPr>
        <p:spPr>
          <a:xfrm>
            <a:off x="8003457" y="1097280"/>
            <a:ext cx="3687097" cy="1500411"/>
          </a:xfrm>
          <a:prstGeom prst="rect">
            <a:avLst/>
          </a:prstGeom>
          <a:noFill/>
        </p:spPr>
        <p:txBody>
          <a:bodyPr wrap="square">
            <a:spAutoFit/>
          </a:bodyPr>
          <a:lstStyle/>
          <a:p>
            <a:pPr>
              <a:spcAft>
                <a:spcPts val="900"/>
              </a:spcAft>
              <a:defRPr sz="1400">
                <a:solidFill>
                  <a:srgbClr val="2A2F34"/>
                </a:solidFill>
                <a:latin typeface="Aptos"/>
              </a:defRPr>
            </a:pPr>
            <a:r>
              <a:rPr dirty="0"/>
              <a:t>• This bar graph demonstrates that</a:t>
            </a:r>
            <a:r>
              <a:rPr lang="en-IN" dirty="0"/>
              <a:t> </a:t>
            </a:r>
            <a:r>
              <a:rPr dirty="0"/>
              <a:t>cancellations are most common when prices are greatest and are least common when they are lowest.</a:t>
            </a:r>
          </a:p>
          <a:p>
            <a:pPr>
              <a:spcAft>
                <a:spcPts val="900"/>
              </a:spcAft>
              <a:defRPr sz="1400">
                <a:solidFill>
                  <a:srgbClr val="2A2F34"/>
                </a:solidFill>
                <a:latin typeface="Aptos"/>
              </a:defRPr>
            </a:pPr>
            <a:r>
              <a:rPr dirty="0"/>
              <a:t>• Therefore, the cost of the accommodation is solely responsible for the cancellation.</a:t>
            </a:r>
          </a:p>
        </p:txBody>
      </p:sp>
      <p:sp>
        <p:nvSpPr>
          <p:cNvPr id="6" name="Rounded Rectangle 5"/>
          <p:cNvSpPr/>
          <p:nvPr/>
        </p:nvSpPr>
        <p:spPr>
          <a:xfrm>
            <a:off x="640080" y="5715000"/>
            <a:ext cx="10881360" cy="658368"/>
          </a:xfrm>
          <a:prstGeom prst="roundRect">
            <a:avLst/>
          </a:prstGeom>
          <a:solidFill>
            <a:srgbClr val="FFFAEC"/>
          </a:solidFill>
          <a:ln>
            <a:solidFill>
              <a:srgbClr val="DA9D3E"/>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a:solidFill>
                  <a:srgbClr val="2A2F34"/>
                </a:solidFill>
              </a:defRPr>
            </a:pPr>
            <a:r>
              <a:t>KEY POINTS  •  The analysis links higher accommodation prices with higher cancellation frequency.</a:t>
            </a:r>
          </a:p>
        </p:txBody>
      </p:sp>
      <p:pic>
        <p:nvPicPr>
          <p:cNvPr id="8" name="Picture 7">
            <a:extLst>
              <a:ext uri="{FF2B5EF4-FFF2-40B4-BE49-F238E27FC236}">
                <a16:creationId xmlns:a16="http://schemas.microsoft.com/office/drawing/2014/main" id="{8001945D-3B37-4FC8-B978-4D5F2D7D7186}"/>
              </a:ext>
            </a:extLst>
          </p:cNvPr>
          <p:cNvPicPr>
            <a:picLocks noChangeAspect="1"/>
          </p:cNvPicPr>
          <p:nvPr/>
        </p:nvPicPr>
        <p:blipFill>
          <a:blip r:embed="rId2"/>
          <a:stretch>
            <a:fillRect/>
          </a:stretch>
        </p:blipFill>
        <p:spPr>
          <a:xfrm>
            <a:off x="178493" y="1097280"/>
            <a:ext cx="7456747" cy="393192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6F8F9"/>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2776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92608"/>
            <a:ext cx="10972800" cy="502920"/>
          </a:xfrm>
          <a:prstGeom prst="rect">
            <a:avLst/>
          </a:prstGeom>
          <a:noFill/>
        </p:spPr>
        <p:txBody>
          <a:bodyPr wrap="none">
            <a:spAutoFit/>
          </a:bodyPr>
          <a:lstStyle/>
          <a:p>
            <a:pPr>
              <a:defRPr sz="2700" b="1">
                <a:solidFill>
                  <a:srgbClr val="1C3042"/>
                </a:solidFill>
                <a:latin typeface="Aptos Display"/>
              </a:defRPr>
            </a:pPr>
            <a:r>
              <a:t>Top Countries with Reservation Cancellations</a:t>
            </a:r>
          </a:p>
        </p:txBody>
      </p:sp>
      <p:pic>
        <p:nvPicPr>
          <p:cNvPr id="4" name="Picture 3" descr="Screenshot 2026-08-29 231237.png"/>
          <p:cNvPicPr>
            <a:picLocks noChangeAspect="1"/>
          </p:cNvPicPr>
          <p:nvPr/>
        </p:nvPicPr>
        <p:blipFill>
          <a:blip r:embed="rId2"/>
          <a:stretch>
            <a:fillRect/>
          </a:stretch>
        </p:blipFill>
        <p:spPr>
          <a:xfrm>
            <a:off x="1630989" y="1143000"/>
            <a:ext cx="4693301" cy="4526279"/>
          </a:xfrm>
          <a:prstGeom prst="rect">
            <a:avLst/>
          </a:prstGeom>
        </p:spPr>
      </p:pic>
      <p:sp>
        <p:nvSpPr>
          <p:cNvPr id="5" name="TextBox 4"/>
          <p:cNvSpPr txBox="1"/>
          <p:nvPr/>
        </p:nvSpPr>
        <p:spPr>
          <a:xfrm>
            <a:off x="7635240" y="1280160"/>
            <a:ext cx="3840480" cy="3931920"/>
          </a:xfrm>
          <a:prstGeom prst="rect">
            <a:avLst/>
          </a:prstGeom>
          <a:noFill/>
        </p:spPr>
        <p:txBody>
          <a:bodyPr wrap="square">
            <a:spAutoFit/>
          </a:bodyPr>
          <a:lstStyle/>
          <a:p>
            <a:pPr>
              <a:spcAft>
                <a:spcPts val="900"/>
              </a:spcAft>
              <a:defRPr sz="1400">
                <a:solidFill>
                  <a:srgbClr val="2A2F34"/>
                </a:solidFill>
                <a:latin typeface="Aptos"/>
              </a:defRPr>
            </a:pPr>
            <a:r>
              <a:t>• Now, let's see which country has the highest reservation canceled.</a:t>
            </a:r>
          </a:p>
          <a:p>
            <a:pPr>
              <a:spcAft>
                <a:spcPts val="900"/>
              </a:spcAft>
              <a:defRPr sz="1400">
                <a:solidFill>
                  <a:srgbClr val="2A2F34"/>
                </a:solidFill>
                <a:latin typeface="Aptos"/>
              </a:defRPr>
            </a:pPr>
            <a:r>
              <a:t>• The top country is Portugal with the highest number of cancellations.</a:t>
            </a:r>
          </a:p>
        </p:txBody>
      </p:sp>
      <p:sp>
        <p:nvSpPr>
          <p:cNvPr id="6" name="Rounded Rectangle 5"/>
          <p:cNvSpPr/>
          <p:nvPr/>
        </p:nvSpPr>
        <p:spPr>
          <a:xfrm>
            <a:off x="548640" y="5907024"/>
            <a:ext cx="10881360" cy="658368"/>
          </a:xfrm>
          <a:prstGeom prst="roundRect">
            <a:avLst/>
          </a:prstGeom>
          <a:solidFill>
            <a:srgbClr val="FFFAEC"/>
          </a:solidFill>
          <a:ln>
            <a:solidFill>
              <a:srgbClr val="DA9D3E"/>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a:solidFill>
                  <a:srgbClr val="2A2F34"/>
                </a:solidFill>
              </a:defRPr>
            </a:pPr>
            <a:r>
              <a:t>KEY POINTS  •  Portugal is identified as the top country with the highest number of cancellations.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6F8F9"/>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2776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92608"/>
            <a:ext cx="10972800" cy="502920"/>
          </a:xfrm>
          <a:prstGeom prst="rect">
            <a:avLst/>
          </a:prstGeom>
          <a:noFill/>
        </p:spPr>
        <p:txBody>
          <a:bodyPr wrap="none">
            <a:spAutoFit/>
          </a:bodyPr>
          <a:lstStyle/>
          <a:p>
            <a:pPr>
              <a:defRPr sz="2700" b="1">
                <a:solidFill>
                  <a:srgbClr val="1C3042"/>
                </a:solidFill>
                <a:latin typeface="Aptos Display"/>
              </a:defRPr>
            </a:pPr>
            <a:r>
              <a:t>Average Daily Rate: Cancelled vs Not Cancelled</a:t>
            </a:r>
          </a:p>
        </p:txBody>
      </p:sp>
      <p:sp>
        <p:nvSpPr>
          <p:cNvPr id="5" name="TextBox 4"/>
          <p:cNvSpPr txBox="1"/>
          <p:nvPr/>
        </p:nvSpPr>
        <p:spPr>
          <a:xfrm>
            <a:off x="7635240" y="1280160"/>
            <a:ext cx="3840480" cy="3931920"/>
          </a:xfrm>
          <a:prstGeom prst="rect">
            <a:avLst/>
          </a:prstGeom>
          <a:noFill/>
        </p:spPr>
        <p:txBody>
          <a:bodyPr wrap="square">
            <a:spAutoFit/>
          </a:bodyPr>
          <a:lstStyle/>
          <a:p>
            <a:pPr>
              <a:spcAft>
                <a:spcPts val="900"/>
              </a:spcAft>
              <a:defRPr sz="1400">
                <a:solidFill>
                  <a:srgbClr val="2A2F34"/>
                </a:solidFill>
                <a:latin typeface="Aptos"/>
              </a:defRPr>
            </a:pPr>
            <a:r>
              <a:t>• As seen in the graph, reservations are canceled when the average daily rate is higher than when it is not canceled.</a:t>
            </a:r>
          </a:p>
          <a:p>
            <a:pPr>
              <a:spcAft>
                <a:spcPts val="900"/>
              </a:spcAft>
              <a:defRPr sz="1400">
                <a:solidFill>
                  <a:srgbClr val="2A2F34"/>
                </a:solidFill>
                <a:latin typeface="Aptos"/>
              </a:defRPr>
            </a:pPr>
            <a:r>
              <a:t>• It clearly proves all the above analysis, that the higher price leads to higher cancellation.</a:t>
            </a:r>
          </a:p>
        </p:txBody>
      </p:sp>
      <p:sp>
        <p:nvSpPr>
          <p:cNvPr id="6" name="Rounded Rectangle 5"/>
          <p:cNvSpPr/>
          <p:nvPr/>
        </p:nvSpPr>
        <p:spPr>
          <a:xfrm>
            <a:off x="640080" y="5715000"/>
            <a:ext cx="10881360" cy="658368"/>
          </a:xfrm>
          <a:prstGeom prst="roundRect">
            <a:avLst/>
          </a:prstGeom>
          <a:solidFill>
            <a:srgbClr val="FFFAEC"/>
          </a:solidFill>
          <a:ln>
            <a:solidFill>
              <a:srgbClr val="DA9D3E"/>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a:solidFill>
                  <a:srgbClr val="2A2F34"/>
                </a:solidFill>
              </a:defRPr>
            </a:pPr>
            <a:r>
              <a:t>KEY POINTS  •  Key conclusion: higher prices are strongly associated with higher cancellation.</a:t>
            </a:r>
          </a:p>
        </p:txBody>
      </p:sp>
      <p:pic>
        <p:nvPicPr>
          <p:cNvPr id="14" name="Picture 13">
            <a:extLst>
              <a:ext uri="{FF2B5EF4-FFF2-40B4-BE49-F238E27FC236}">
                <a16:creationId xmlns:a16="http://schemas.microsoft.com/office/drawing/2014/main" id="{83CC248E-87E9-BB91-4BDE-E9F947B0194B}"/>
              </a:ext>
            </a:extLst>
          </p:cNvPr>
          <p:cNvPicPr>
            <a:picLocks noChangeAspect="1"/>
          </p:cNvPicPr>
          <p:nvPr/>
        </p:nvPicPr>
        <p:blipFill>
          <a:blip r:embed="rId2"/>
          <a:stretch>
            <a:fillRect/>
          </a:stretch>
        </p:blipFill>
        <p:spPr>
          <a:xfrm>
            <a:off x="262385" y="1298448"/>
            <a:ext cx="7143576" cy="2978584"/>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6F8F9"/>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2776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92608"/>
            <a:ext cx="10972800" cy="502920"/>
          </a:xfrm>
          <a:prstGeom prst="rect">
            <a:avLst/>
          </a:prstGeom>
          <a:noFill/>
        </p:spPr>
        <p:txBody>
          <a:bodyPr wrap="none">
            <a:spAutoFit/>
          </a:bodyPr>
          <a:lstStyle/>
          <a:p>
            <a:pPr>
              <a:defRPr sz="2700" b="1">
                <a:solidFill>
                  <a:srgbClr val="1C3042"/>
                </a:solidFill>
                <a:latin typeface="Aptos Display"/>
              </a:defRPr>
            </a:pPr>
            <a:r>
              <a:t>Where Guests Make Reservations</a:t>
            </a:r>
          </a:p>
        </p:txBody>
      </p:sp>
      <p:sp>
        <p:nvSpPr>
          <p:cNvPr id="4" name="TextBox 3"/>
          <p:cNvSpPr txBox="1"/>
          <p:nvPr/>
        </p:nvSpPr>
        <p:spPr>
          <a:xfrm>
            <a:off x="685800" y="1234440"/>
            <a:ext cx="6675120" cy="4206240"/>
          </a:xfrm>
          <a:prstGeom prst="rect">
            <a:avLst/>
          </a:prstGeom>
          <a:noFill/>
        </p:spPr>
        <p:txBody>
          <a:bodyPr wrap="square">
            <a:spAutoFit/>
          </a:bodyPr>
          <a:lstStyle/>
          <a:p>
            <a:pPr>
              <a:spcAft>
                <a:spcPts val="900"/>
              </a:spcAft>
              <a:defRPr sz="1500">
                <a:solidFill>
                  <a:srgbClr val="2A2F34"/>
                </a:solidFill>
                <a:latin typeface="Aptos"/>
              </a:defRPr>
            </a:pPr>
            <a:r>
              <a:t>• Let's check the area from where guests are visiting the hotels and making reservations.</a:t>
            </a:r>
          </a:p>
          <a:p>
            <a:pPr>
              <a:spcAft>
                <a:spcPts val="900"/>
              </a:spcAft>
              <a:defRPr sz="1500">
                <a:solidFill>
                  <a:srgbClr val="2A2F34"/>
                </a:solidFill>
                <a:latin typeface="Aptos"/>
              </a:defRPr>
            </a:pPr>
            <a:r>
              <a:t>• Is it coming from Direct or Groups, Online or Offline Travel Agents?</a:t>
            </a:r>
          </a:p>
          <a:p>
            <a:pPr>
              <a:spcAft>
                <a:spcPts val="900"/>
              </a:spcAft>
              <a:defRPr sz="1500">
                <a:solidFill>
                  <a:srgbClr val="2A2F34"/>
                </a:solidFill>
                <a:latin typeface="Aptos"/>
              </a:defRPr>
            </a:pPr>
            <a:r>
              <a:t>• Around 46% of the clients come from online travel agencies, whereas 27% come from groups.</a:t>
            </a:r>
          </a:p>
          <a:p>
            <a:pPr>
              <a:spcAft>
                <a:spcPts val="900"/>
              </a:spcAft>
              <a:defRPr sz="1500">
                <a:solidFill>
                  <a:srgbClr val="2A2F34"/>
                </a:solidFill>
                <a:latin typeface="Aptos"/>
              </a:defRPr>
            </a:pPr>
            <a:r>
              <a:t>• Only 4% of clients book hotels directly by visiting them and making reservations.</a:t>
            </a:r>
          </a:p>
        </p:txBody>
      </p:sp>
      <p:sp>
        <p:nvSpPr>
          <p:cNvPr id="5" name="Rounded Rectangle 4"/>
          <p:cNvSpPr/>
          <p:nvPr/>
        </p:nvSpPr>
        <p:spPr>
          <a:xfrm>
            <a:off x="7772400" y="1417320"/>
            <a:ext cx="3383280" cy="914400"/>
          </a:xfrm>
          <a:prstGeom prst="roundRect">
            <a:avLst/>
          </a:prstGeom>
          <a:solidFill>
            <a:srgbClr val="FFFFFF"/>
          </a:solidFill>
          <a:ln>
            <a:solidFill>
              <a:srgbClr val="27767D"/>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2300" b="1">
                <a:solidFill>
                  <a:srgbClr val="27767D"/>
                </a:solidFill>
              </a:defRPr>
            </a:pPr>
            <a:r>
              <a:t>46%</a:t>
            </a:r>
          </a:p>
          <a:p>
            <a:pPr algn="ctr">
              <a:defRPr sz="1100">
                <a:solidFill>
                  <a:srgbClr val="2A2F34"/>
                </a:solidFill>
              </a:defRPr>
            </a:pPr>
            <a:r>
              <a:t>Online Travel Agencies</a:t>
            </a:r>
          </a:p>
        </p:txBody>
      </p:sp>
      <p:sp>
        <p:nvSpPr>
          <p:cNvPr id="6" name="Rounded Rectangle 5"/>
          <p:cNvSpPr/>
          <p:nvPr/>
        </p:nvSpPr>
        <p:spPr>
          <a:xfrm>
            <a:off x="7772400" y="2743200"/>
            <a:ext cx="3383280" cy="914400"/>
          </a:xfrm>
          <a:prstGeom prst="roundRect">
            <a:avLst/>
          </a:prstGeom>
          <a:solidFill>
            <a:srgbClr val="FFFFFF"/>
          </a:solidFill>
          <a:ln>
            <a:solidFill>
              <a:srgbClr val="27767D"/>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2300" b="1">
                <a:solidFill>
                  <a:srgbClr val="27767D"/>
                </a:solidFill>
              </a:defRPr>
            </a:pPr>
            <a:r>
              <a:t>27%</a:t>
            </a:r>
          </a:p>
          <a:p>
            <a:pPr algn="ctr">
              <a:defRPr sz="1100">
                <a:solidFill>
                  <a:srgbClr val="2A2F34"/>
                </a:solidFill>
              </a:defRPr>
            </a:pPr>
            <a:r>
              <a:t>Groups</a:t>
            </a:r>
          </a:p>
        </p:txBody>
      </p:sp>
      <p:sp>
        <p:nvSpPr>
          <p:cNvPr id="7" name="Rounded Rectangle 6"/>
          <p:cNvSpPr/>
          <p:nvPr/>
        </p:nvSpPr>
        <p:spPr>
          <a:xfrm>
            <a:off x="7772400" y="4069080"/>
            <a:ext cx="3383280" cy="914400"/>
          </a:xfrm>
          <a:prstGeom prst="roundRect">
            <a:avLst/>
          </a:prstGeom>
          <a:solidFill>
            <a:srgbClr val="FFFFFF"/>
          </a:solidFill>
          <a:ln>
            <a:solidFill>
              <a:srgbClr val="27767D"/>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2300" b="1">
                <a:solidFill>
                  <a:srgbClr val="27767D"/>
                </a:solidFill>
              </a:defRPr>
            </a:pPr>
            <a:r>
              <a:t>4%</a:t>
            </a:r>
          </a:p>
          <a:p>
            <a:pPr algn="ctr">
              <a:defRPr sz="1100">
                <a:solidFill>
                  <a:srgbClr val="2A2F34"/>
                </a:solidFill>
              </a:defRPr>
            </a:pPr>
            <a:r>
              <a:t>Direct bookings</a:t>
            </a:r>
          </a:p>
        </p:txBody>
      </p:sp>
      <p:sp>
        <p:nvSpPr>
          <p:cNvPr id="8" name="Rounded Rectangle 7"/>
          <p:cNvSpPr/>
          <p:nvPr/>
        </p:nvSpPr>
        <p:spPr>
          <a:xfrm>
            <a:off x="640080" y="5715000"/>
            <a:ext cx="10881360" cy="658368"/>
          </a:xfrm>
          <a:prstGeom prst="roundRect">
            <a:avLst/>
          </a:prstGeom>
          <a:solidFill>
            <a:srgbClr val="FFFAEC"/>
          </a:solidFill>
          <a:ln>
            <a:solidFill>
              <a:srgbClr val="DA9D3E"/>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a:solidFill>
                  <a:srgbClr val="2A2F34"/>
                </a:solidFill>
              </a:defRPr>
            </a:pPr>
            <a:r>
              <a:t>KEY POINTS  •  46% come from online travel agencies, 27% from groups, and only 4% book directly.</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6F8F9"/>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2776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92608"/>
            <a:ext cx="10972800" cy="502920"/>
          </a:xfrm>
          <a:prstGeom prst="rect">
            <a:avLst/>
          </a:prstGeom>
          <a:noFill/>
        </p:spPr>
        <p:txBody>
          <a:bodyPr wrap="none">
            <a:spAutoFit/>
          </a:bodyPr>
          <a:lstStyle/>
          <a:p>
            <a:pPr>
              <a:defRPr sz="2700" b="1">
                <a:solidFill>
                  <a:srgbClr val="1C3042"/>
                </a:solidFill>
                <a:latin typeface="Aptos Display"/>
              </a:defRPr>
            </a:pPr>
            <a:r>
              <a:t>Suggestions</a:t>
            </a:r>
          </a:p>
        </p:txBody>
      </p:sp>
      <p:sp>
        <p:nvSpPr>
          <p:cNvPr id="4" name="TextBox 3"/>
          <p:cNvSpPr txBox="1"/>
          <p:nvPr/>
        </p:nvSpPr>
        <p:spPr>
          <a:xfrm>
            <a:off x="640080" y="1097280"/>
            <a:ext cx="10835640" cy="1838965"/>
          </a:xfrm>
          <a:prstGeom prst="rect">
            <a:avLst/>
          </a:prstGeom>
          <a:noFill/>
        </p:spPr>
        <p:txBody>
          <a:bodyPr wrap="square">
            <a:spAutoFit/>
          </a:bodyPr>
          <a:lstStyle/>
          <a:p>
            <a:pPr>
              <a:spcAft>
                <a:spcPts val="900"/>
              </a:spcAft>
              <a:defRPr sz="1300">
                <a:solidFill>
                  <a:srgbClr val="2A2F34"/>
                </a:solidFill>
                <a:latin typeface="Aptos"/>
              </a:defRPr>
            </a:pPr>
            <a:r>
              <a:rPr dirty="0"/>
              <a:t>• Cancellation rates rise as the price does. In order to prevent cancellations of reservations, hotels could work on their pricing strategies and try to lower the rates for specific hotels based on locations. They can also provide some discounts to the consumers.</a:t>
            </a:r>
          </a:p>
          <a:p>
            <a:pPr>
              <a:spcAft>
                <a:spcPts val="900"/>
              </a:spcAft>
              <a:defRPr sz="1300">
                <a:solidFill>
                  <a:srgbClr val="2A2F34"/>
                </a:solidFill>
                <a:latin typeface="Aptos"/>
              </a:defRPr>
            </a:pPr>
            <a:r>
              <a:rPr dirty="0"/>
              <a:t>• As the ratio of the cancellation and not cancellation of the resort hotel is higher in the resort hotel than the city hotels. So the hotels should provide a reasonable discount on the room prices on weekends or on holidays.</a:t>
            </a:r>
          </a:p>
          <a:p>
            <a:pPr>
              <a:spcAft>
                <a:spcPts val="900"/>
              </a:spcAft>
              <a:defRPr sz="1300">
                <a:solidFill>
                  <a:srgbClr val="2A2F34"/>
                </a:solidFill>
                <a:latin typeface="Aptos"/>
              </a:defRPr>
            </a:pPr>
            <a:r>
              <a:rPr dirty="0"/>
              <a:t>• In the month of January, hotels can start campaigns or marketing with a reasonable amount to increase their revenue as the cancellation is the highest in this month.</a:t>
            </a:r>
          </a:p>
          <a:p>
            <a:pPr>
              <a:spcAft>
                <a:spcPts val="900"/>
              </a:spcAft>
              <a:defRPr sz="1300">
                <a:solidFill>
                  <a:srgbClr val="2A2F34"/>
                </a:solidFill>
                <a:latin typeface="Aptos"/>
              </a:defRPr>
            </a:pPr>
            <a:r>
              <a:rPr dirty="0"/>
              <a:t>• They can also increase the quality of their hotels and their services mainly in Portugal to reduce the cancellation rate.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36</TotalTime>
  <Words>1052</Words>
  <Application>Microsoft Office PowerPoint</Application>
  <PresentationFormat>Widescreen</PresentationFormat>
  <Paragraphs>72</Paragraphs>
  <Slides>13</Slides>
  <Notes>0</Notes>
  <HiddenSlides>0</HiddenSlides>
  <MMClips>0</MMClips>
  <ScaleCrop>false</ScaleCrop>
  <HeadingPairs>
    <vt:vector size="4" baseType="variant">
      <vt:variant>
        <vt:lpstr>Theme</vt:lpstr>
      </vt:variant>
      <vt:variant>
        <vt:i4>1</vt:i4>
      </vt:variant>
      <vt:variant>
        <vt:lpstr>Slide Titles</vt:lpstr>
      </vt:variant>
      <vt:variant>
        <vt:i4>13</vt:i4>
      </vt:variant>
    </vt:vector>
  </HeadingPairs>
  <TitlesOfParts>
    <vt:vector size="14"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Anish Kumar</cp:lastModifiedBy>
  <cp:revision>5</cp:revision>
  <dcterms:created xsi:type="dcterms:W3CDTF">2013-01-27T09:14:16Z</dcterms:created>
  <dcterms:modified xsi:type="dcterms:W3CDTF">2026-08-29T20:27:07Z</dcterms:modified>
  <cp:category/>
</cp:coreProperties>
</file>